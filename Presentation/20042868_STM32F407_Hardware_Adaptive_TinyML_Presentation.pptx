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ikh Wasay" userId="3a1cb6de-2098-4ab1-9279-4fa2d8a0e21b" providerId="ADAL" clId="{156A1582-A312-462B-AC4E-151965CB7F92}"/>
    <pc:docChg chg="modSld">
      <pc:chgData name="Sheikh Wasay" userId="3a1cb6de-2098-4ab1-9279-4fa2d8a0e21b" providerId="ADAL" clId="{156A1582-A312-462B-AC4E-151965CB7F92}" dt="2026-05-09T15:52:45.888" v="0" actId="14100"/>
      <pc:docMkLst>
        <pc:docMk/>
      </pc:docMkLst>
      <pc:sldChg chg="modSp mod">
        <pc:chgData name="Sheikh Wasay" userId="3a1cb6de-2098-4ab1-9279-4fa2d8a0e21b" providerId="ADAL" clId="{156A1582-A312-462B-AC4E-151965CB7F92}" dt="2026-05-09T15:52:45.888" v="0" actId="14100"/>
        <pc:sldMkLst>
          <pc:docMk/>
          <pc:sldMk cId="0" sldId="256"/>
        </pc:sldMkLst>
        <pc:spChg chg="mod">
          <ac:chgData name="Sheikh Wasay" userId="3a1cb6de-2098-4ab1-9279-4fa2d8a0e21b" providerId="ADAL" clId="{156A1582-A312-462B-AC4E-151965CB7F92}" dt="2026-05-09T15:52:45.888" v="0" actId="14100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7381"/>
                </a:solidFill>
                <a:latin typeface="Calibri"/>
              </a:defRPr>
            </a:pPr>
            <a:r>
              <a:t>Abdul Rafey | 20042868 | STM32F407 Hardware-Adaptive TinyML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43000"/>
            <a:ext cx="10698480" cy="4195916"/>
          </a:xfrm>
          <a:prstGeom prst="round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41732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Hardware-Adaptive TinyML Inference on STM32F407</a:t>
            </a:r>
          </a:p>
          <a:p>
            <a:pPr>
              <a:defRPr sz="1700">
                <a:solidFill>
                  <a:srgbClr val="CCFBF1"/>
                </a:solidFill>
                <a:latin typeface="Calibri"/>
              </a:defRPr>
            </a:pPr>
            <a:r>
              <a:t>Applied Research Project Presentation / Artefact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977639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Abdul Rafey | Student ID: 20042868 | MSc in Computing | Dublin Business School |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4754880"/>
            <a:ext cx="1463040" cy="3200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STM32F407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754880"/>
            <a:ext cx="164592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X-CUBE-AI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4754880"/>
            <a:ext cx="228600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Real Board Telemetry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37381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7381"/>
                </a:solidFill>
                <a:latin typeface="Calibri"/>
              </a:defRPr>
            </a:pPr>
            <a:r>
              <a:t>Abdul Rafey | 20042868 | STM32F407 Hardware-Adaptive 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43E"/>
                </a:solidFill>
                <a:latin typeface="Calibri"/>
              </a:defRPr>
            </a:pPr>
            <a:r>
              <a:t>Problem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1"/>
                </a:solidFill>
                <a:latin typeface="Calibri"/>
              </a:defRPr>
            </a:pPr>
            <a:r>
              <a:t>Static TinyML deployment does not react to changing microcontroller hardware state.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21031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527048"/>
            <a:ext cx="48920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  <a:latin typeface="Calibri"/>
              </a:defRPr>
            </a:pPr>
            <a:r>
              <a:t>Industry / technical problem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TinyML models are often deployed as fixed firmware pipelines.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Microcontrollers operate under changing temperature, voltage and CPU-load conditions.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A compiled model may invoke successfully but still produce unusable output if deployment is wrong.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21031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1527048"/>
            <a:ext cx="48920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Calibri"/>
              </a:defRPr>
            </a:pPr>
            <a:r>
              <a:t>Observed project problem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Rule engine was working, but early AI output was zero.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TensorFlow Lite Micro returned Invoke=0, but output probabilities were S=0.000, P=0.000, M=0.000.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This showed the need for output validation, not only build success.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389120"/>
            <a:ext cx="2057400" cy="960120"/>
          </a:xfrm>
          <a:prstGeom prst="round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Hardware state</a:t>
            </a:r>
          </a:p>
          <a:p>
            <a:pPr algn="ctr">
              <a:defRPr sz="940">
                <a:solidFill>
                  <a:srgbClr val="FFFFFF"/>
                </a:solidFill>
                <a:latin typeface="Calibri"/>
              </a:defRPr>
            </a:pPr>
            <a:r>
              <a:t>Temp / Vcc / CPU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90672" y="4864608"/>
            <a:ext cx="429767" cy="0"/>
          </a:xfrm>
          <a:prstGeom prst="line">
            <a:avLst/>
          </a:prstGeom>
          <a:ln w="25400">
            <a:solidFill>
              <a:srgbClr val="637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03320" y="4389120"/>
            <a:ext cx="2057400" cy="9601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Static model</a:t>
            </a:r>
          </a:p>
          <a:p>
            <a:pPr algn="ctr">
              <a:defRPr sz="940">
                <a:solidFill>
                  <a:srgbClr val="FFFFFF"/>
                </a:solidFill>
                <a:latin typeface="Calibri"/>
              </a:defRPr>
            </a:pPr>
            <a:r>
              <a:t>Fixed inference path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33872" y="4864608"/>
            <a:ext cx="429768" cy="0"/>
          </a:xfrm>
          <a:prstGeom prst="line">
            <a:avLst/>
          </a:prstGeom>
          <a:ln w="25400">
            <a:solidFill>
              <a:srgbClr val="637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46520" y="4389120"/>
            <a:ext cx="2057400" cy="960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Runtime risk</a:t>
            </a:r>
          </a:p>
          <a:p>
            <a:pPr algn="ctr">
              <a:defRPr sz="940">
                <a:solidFill>
                  <a:srgbClr val="FFFFFF"/>
                </a:solidFill>
                <a:latin typeface="Calibri"/>
              </a:defRPr>
            </a:pPr>
            <a:r>
              <a:t>Latency / stability issue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77072" y="4864608"/>
            <a:ext cx="429768" cy="0"/>
          </a:xfrm>
          <a:prstGeom prst="line">
            <a:avLst/>
          </a:prstGeom>
          <a:ln w="25400">
            <a:solidFill>
              <a:srgbClr val="637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89720" y="4389120"/>
            <a:ext cx="2057400" cy="9601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Need</a:t>
            </a:r>
          </a:p>
          <a:p>
            <a:pPr algn="ctr">
              <a:defRPr sz="940">
                <a:solidFill>
                  <a:srgbClr val="FFFFFF"/>
                </a:solidFill>
                <a:latin typeface="Calibri"/>
              </a:defRPr>
            </a:pPr>
            <a:r>
              <a:t>Adaptive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37381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7381"/>
                </a:solidFill>
                <a:latin typeface="Calibri"/>
              </a:defRPr>
            </a:pPr>
            <a:r>
              <a:t>Abdul Rafey | 20042868 | STM32F407 Hardware-Adaptive 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43E"/>
                </a:solidFill>
                <a:latin typeface="Calibri"/>
              </a:defRPr>
            </a:pPr>
            <a:r>
              <a:t>Aim and 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1"/>
                </a:solidFill>
                <a:latin typeface="Calibri"/>
              </a:defRPr>
            </a:pPr>
            <a:r>
              <a:t>The aim was to build and evaluate a hardware-adaptive TinyML inference artefact.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5257800" cy="21945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35607"/>
            <a:ext cx="493776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688"/>
                </a:solidFill>
                <a:latin typeface="Calibri"/>
              </a:defRPr>
            </a:pPr>
            <a:r>
              <a:t>Project aim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Design, implement and evaluate a hardware-level adaptive TinyML framework on STM32F407.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Use real board telemetry to select a suitable inference mode during runtime.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325880"/>
            <a:ext cx="4983480" cy="21945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19672" y="1435607"/>
            <a:ext cx="46634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43E"/>
                </a:solidFill>
                <a:latin typeface="Calibri"/>
              </a:defRPr>
            </a:pPr>
            <a:r>
              <a:t>Core research questions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How can STM32F407 telemetry support dynamic mode selection?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How does AI + rule fallback improve stability?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What implementation changes were needed to make the model run reliably?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77639"/>
            <a:ext cx="10515600" cy="123444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4087368"/>
            <a:ext cx="10195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Calibri"/>
              </a:defRPr>
            </a:pPr>
            <a:r>
              <a:t>Hypothesis summary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Temperature and CPU-load telemetry can support stable inference-mode selection.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A confidence-gated model with fallback rules can reduce uncertain switching.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Correct STM32 toolchain configuration is necessary for reliable Cortex-M4 inference.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37381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7381"/>
                </a:solidFill>
                <a:latin typeface="Calibri"/>
              </a:defRPr>
            </a:pPr>
            <a:r>
              <a:t>Abdul Rafey | 20042868 | STM32F407 Hardware-Adaptive 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43E"/>
                </a:solidFill>
                <a:latin typeface="Calibri"/>
              </a:defRPr>
            </a:pPr>
            <a:r>
              <a:t>Artefact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1"/>
                </a:solidFill>
                <a:latin typeface="Calibri"/>
              </a:defRPr>
            </a:pPr>
            <a:r>
              <a:t>The artefact is a complete STM32F407 hardware-adaptive TinyML firmware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1691640" cy="960120"/>
          </a:xfrm>
          <a:prstGeom prst="round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Hardware profiler</a:t>
            </a:r>
          </a:p>
          <a:p>
            <a:pPr algn="ctr">
              <a:defRPr sz="940">
                <a:solidFill>
                  <a:srgbClr val="FFFFFF"/>
                </a:solidFill>
                <a:latin typeface="Calibri"/>
              </a:defRPr>
            </a:pPr>
            <a:r>
              <a:t>Temp / Vcc / CPU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67712" y="2807208"/>
            <a:ext cx="429768" cy="0"/>
          </a:xfrm>
          <a:prstGeom prst="line">
            <a:avLst/>
          </a:prstGeom>
          <a:ln w="25400">
            <a:solidFill>
              <a:srgbClr val="637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80360" y="2331720"/>
            <a:ext cx="1691640" cy="9601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AI model</a:t>
            </a:r>
          </a:p>
          <a:p>
            <a:pPr algn="ctr">
              <a:defRPr sz="940">
                <a:solidFill>
                  <a:srgbClr val="FFFFFF"/>
                </a:solidFill>
                <a:latin typeface="Calibri"/>
              </a:defRPr>
            </a:pPr>
            <a:r>
              <a:t>Temp + CPU input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45152" y="2807208"/>
            <a:ext cx="429768" cy="0"/>
          </a:xfrm>
          <a:prstGeom prst="line">
            <a:avLst/>
          </a:prstGeom>
          <a:ln w="25400">
            <a:solidFill>
              <a:srgbClr val="637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257800" y="2331720"/>
            <a:ext cx="1691640" cy="960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Rule engine</a:t>
            </a:r>
          </a:p>
          <a:p>
            <a:pPr algn="ctr">
              <a:defRPr sz="940">
                <a:solidFill>
                  <a:srgbClr val="FFFFFF"/>
                </a:solidFill>
                <a:latin typeface="Calibri"/>
              </a:defRPr>
            </a:pPr>
            <a:r>
              <a:t>Safety fallback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22592" y="2807208"/>
            <a:ext cx="429768" cy="0"/>
          </a:xfrm>
          <a:prstGeom prst="line">
            <a:avLst/>
          </a:prstGeom>
          <a:ln w="25400">
            <a:solidFill>
              <a:srgbClr val="637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635240" y="2331720"/>
            <a:ext cx="1691640" cy="9601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Fusion logic</a:t>
            </a:r>
          </a:p>
          <a:p>
            <a:pPr algn="ctr">
              <a:defRPr sz="940">
                <a:solidFill>
                  <a:srgbClr val="FFFFFF"/>
                </a:solidFill>
                <a:latin typeface="Calibri"/>
              </a:defRPr>
            </a:pPr>
            <a:r>
              <a:t>75% confidence gate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00032" y="2807208"/>
            <a:ext cx="429768" cy="0"/>
          </a:xfrm>
          <a:prstGeom prst="line">
            <a:avLst/>
          </a:prstGeom>
          <a:ln w="25400">
            <a:solidFill>
              <a:srgbClr val="637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012680" y="2331720"/>
            <a:ext cx="1691640" cy="960120"/>
          </a:xfrm>
          <a:prstGeom prst="round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UART log</a:t>
            </a:r>
          </a:p>
          <a:p>
            <a:pPr algn="ctr">
              <a:defRPr sz="940">
                <a:solidFill>
                  <a:srgbClr val="FFFFFF"/>
                </a:solidFill>
                <a:latin typeface="Calibri"/>
              </a:defRPr>
            </a:pPr>
            <a:r>
              <a:t>Decision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069080"/>
            <a:ext cx="3291840" cy="14173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3271" y="4178808"/>
            <a:ext cx="2971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688"/>
                </a:solidFill>
                <a:latin typeface="Calibri"/>
              </a:defRPr>
            </a:pPr>
            <a:r>
              <a:t>Output modes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STANDARD_INT8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PRUNED_VARIANT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MIXED_PRECISION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4069080"/>
            <a:ext cx="3291840" cy="14173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9431" y="4178808"/>
            <a:ext cx="2971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Calibri"/>
              </a:defRPr>
            </a:pPr>
            <a:r>
              <a:t>Final decision fields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Rule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AI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Decided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Src = AI or RULE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4069080"/>
            <a:ext cx="3200400" cy="14173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65592" y="4178808"/>
            <a:ext cx="2880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  <a:latin typeface="Calibri"/>
              </a:defRPr>
            </a:pPr>
            <a:r>
              <a:t>Submission evidence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GitHub repository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Dataset copy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Model files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UART screenshots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37381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7381"/>
                </a:solidFill>
                <a:latin typeface="Calibri"/>
              </a:defRPr>
            </a:pPr>
            <a:r>
              <a:t>Abdul Rafey | 20042868 | STM32F407 Hardware-Adaptive 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43E"/>
                </a:solidFill>
                <a:latin typeface="Calibri"/>
              </a:defRPr>
            </a:pPr>
            <a:r>
              <a:t>Tools and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1"/>
                </a:solidFill>
                <a:latin typeface="Calibri"/>
              </a:defRPr>
            </a:pPr>
            <a:r>
              <a:t>The artefact combines embedded firmware, model training, and STM32-native AI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474720" cy="41605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344168"/>
            <a:ext cx="3154679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43E"/>
                </a:solidFill>
                <a:latin typeface="Calibri"/>
              </a:defRPr>
            </a:pPr>
            <a:r>
              <a:t>Hardware and firmware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STM32F407 / STM32F407VGTX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ARM Cortex-M4 with FPU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STM32CubeIDE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STM32CubeMX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STM32 HAL drivers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UART / PuTTY logging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74720" cy="41605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344168"/>
            <a:ext cx="3154679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688"/>
                </a:solidFill>
                <a:latin typeface="Calibri"/>
              </a:defRPr>
            </a:pPr>
            <a:r>
              <a:t>Machine learning stack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Python / Google Colab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TensorFlow 2.20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Keras model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TFLite export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Two inputs: Temp + CPU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Three-class softmax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234440"/>
            <a:ext cx="3474720" cy="41605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57031" y="1344168"/>
            <a:ext cx="3154679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Calibri"/>
              </a:defRPr>
            </a:pPr>
            <a:r>
              <a:t>Deployment stack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X-CUBE-AI 10.2.0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Generated C inference code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model_manager_xcubeai.c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hard floating-point ABI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Rule + AI fusion logic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GitHub artefact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37381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7381"/>
                </a:solidFill>
                <a:latin typeface="Calibri"/>
              </a:defRPr>
            </a:pPr>
            <a:r>
              <a:t>Abdul Rafey | 20042868 | STM32F407 Hardware-Adaptive 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43E"/>
                </a:solidFill>
                <a:latin typeface="Calibri"/>
              </a:defRPr>
            </a:pPr>
            <a:r>
              <a:t>Data Collection and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1"/>
                </a:solidFill>
                <a:latin typeface="Calibri"/>
              </a:defRPr>
            </a:pPr>
            <a:r>
              <a:t>The model was trained on real STM32F407 board telemetry, not a public HAR dataset.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24688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2400" b="1">
                <a:solidFill>
                  <a:srgbClr val="009688"/>
                </a:solidFill>
                <a:latin typeface="Calibri"/>
              </a:defRPr>
            </a:pPr>
            <a:r>
              <a:t>1,395</a:t>
            </a:r>
          </a:p>
          <a:p>
            <a:pPr algn="ctr">
              <a:defRPr sz="1050">
                <a:solidFill>
                  <a:srgbClr val="212B36"/>
                </a:solidFill>
                <a:latin typeface="Calibri"/>
              </a:defRPr>
            </a:pPr>
            <a:r>
              <a:t>Telemetry rows collected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417320"/>
            <a:ext cx="24688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2400" b="1">
                <a:solidFill>
                  <a:srgbClr val="0F243E"/>
                </a:solidFill>
                <a:latin typeface="Calibri"/>
              </a:defRPr>
            </a:pPr>
            <a:r>
              <a:t>3</a:t>
            </a:r>
          </a:p>
          <a:p>
            <a:pPr algn="ctr">
              <a:defRPr sz="1050">
                <a:solidFill>
                  <a:srgbClr val="212B36"/>
                </a:solidFill>
                <a:latin typeface="Calibri"/>
              </a:defRPr>
            </a:pPr>
            <a:r>
              <a:t>Runtime phases: cold boot, stress, normal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24688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2400" b="1">
                <a:solidFill>
                  <a:srgbClr val="F59E0B"/>
                </a:solidFill>
                <a:latin typeface="Calibri"/>
              </a:defRPr>
            </a:pPr>
            <a:r>
              <a:t>2</a:t>
            </a:r>
          </a:p>
          <a:p>
            <a:pPr algn="ctr">
              <a:defRPr sz="1050">
                <a:solidFill>
                  <a:srgbClr val="212B36"/>
                </a:solidFill>
                <a:latin typeface="Calibri"/>
              </a:defRPr>
            </a:pPr>
            <a:r>
              <a:t>Final model inputs: temperature + CPU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417320"/>
            <a:ext cx="24688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2400" b="1">
                <a:solidFill>
                  <a:srgbClr val="16A34A"/>
                </a:solidFill>
                <a:latin typeface="Calibri"/>
              </a:defRPr>
            </a:pPr>
            <a:r>
              <a:t>3</a:t>
            </a:r>
          </a:p>
          <a:p>
            <a:pPr algn="ctr">
              <a:defRPr sz="1050">
                <a:solidFill>
                  <a:srgbClr val="212B36"/>
                </a:solidFill>
                <a:latin typeface="Calibri"/>
              </a:defRPr>
            </a:pPr>
            <a:r>
              <a:t>Mode classes predicted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971800"/>
            <a:ext cx="5166360" cy="21031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1" y="3081528"/>
            <a:ext cx="484632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43E"/>
                </a:solidFill>
                <a:latin typeface="Calibri"/>
              </a:defRPr>
            </a:pPr>
            <a:r>
              <a:t>Logged variables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Temperature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Vcc / supply voltage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CPU load estimate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Phase and stress state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Rule labels and UART debug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971800"/>
            <a:ext cx="4892040" cy="21031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3081528"/>
            <a:ext cx="45720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688"/>
                </a:solidFill>
                <a:latin typeface="Calibri"/>
              </a:defRPr>
            </a:pPr>
            <a:r>
              <a:t>Feature decision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Voltage was collected and analysed.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Vcc variation was too small in the available setup.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Final model therefore used temperature and CPU load only.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37381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7381"/>
                </a:solidFill>
                <a:latin typeface="Calibri"/>
              </a:defRPr>
            </a:pPr>
            <a:r>
              <a:t>Abdul Rafey | 20042868 | STM32F407 Hardware-Adaptive 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43E"/>
                </a:solidFill>
                <a:latin typeface="Calibri"/>
              </a:defRPr>
            </a:pPr>
            <a:r>
              <a:t>Model Training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1"/>
                </a:solidFill>
                <a:latin typeface="Calibri"/>
              </a:defRPr>
            </a:pPr>
            <a:r>
              <a:t>A small float32 classifier was trained and exported for STM32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011680"/>
            <a:ext cx="1737360" cy="960120"/>
          </a:xfrm>
          <a:prstGeom prst="round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CSV data</a:t>
            </a:r>
          </a:p>
          <a:p>
            <a:pPr algn="ctr">
              <a:defRPr sz="940">
                <a:solidFill>
                  <a:srgbClr val="FFFFFF"/>
                </a:solidFill>
                <a:latin typeface="Calibri"/>
              </a:defRPr>
            </a:pPr>
            <a:r>
              <a:t>data_training.csv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21992" y="2487168"/>
            <a:ext cx="429768" cy="0"/>
          </a:xfrm>
          <a:prstGeom prst="line">
            <a:avLst/>
          </a:prstGeom>
          <a:ln w="25400">
            <a:solidFill>
              <a:srgbClr val="637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34640" y="2011680"/>
            <a:ext cx="1737360" cy="960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 analysis</a:t>
            </a:r>
          </a:p>
          <a:p>
            <a:pPr algn="ctr">
              <a:defRPr sz="940">
                <a:solidFill>
                  <a:srgbClr val="FFFFFF"/>
                </a:solidFill>
                <a:latin typeface="Calibri"/>
              </a:defRPr>
            </a:pPr>
            <a:r>
              <a:t>Drop Vcc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45152" y="2487168"/>
            <a:ext cx="429768" cy="0"/>
          </a:xfrm>
          <a:prstGeom prst="line">
            <a:avLst/>
          </a:prstGeom>
          <a:ln w="25400">
            <a:solidFill>
              <a:srgbClr val="637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257800" y="2011680"/>
            <a:ext cx="1737360" cy="9601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Normalisation</a:t>
            </a:r>
          </a:p>
          <a:p>
            <a:pPr algn="ctr">
              <a:defRPr sz="940">
                <a:solidFill>
                  <a:srgbClr val="FFFFFF"/>
                </a:solidFill>
                <a:latin typeface="Calibri"/>
              </a:defRPr>
            </a:pPr>
            <a:r>
              <a:t>Z-score constants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68312" y="2487168"/>
            <a:ext cx="429768" cy="0"/>
          </a:xfrm>
          <a:prstGeom prst="line">
            <a:avLst/>
          </a:prstGeom>
          <a:ln w="25400">
            <a:solidFill>
              <a:srgbClr val="637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680960" y="2011680"/>
            <a:ext cx="1737360" cy="9601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Training</a:t>
            </a:r>
          </a:p>
          <a:p>
            <a:pPr algn="ctr">
              <a:defRPr sz="940">
                <a:solidFill>
                  <a:srgbClr val="FFFFFF"/>
                </a:solidFill>
                <a:latin typeface="Calibri"/>
              </a:defRPr>
            </a:pPr>
            <a:r>
              <a:t>Dense 2→16→3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91472" y="2487168"/>
            <a:ext cx="429768" cy="0"/>
          </a:xfrm>
          <a:prstGeom prst="line">
            <a:avLst/>
          </a:prstGeom>
          <a:ln w="25400">
            <a:solidFill>
              <a:srgbClr val="637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04120" y="2011680"/>
            <a:ext cx="1737360" cy="960120"/>
          </a:xfrm>
          <a:prstGeom prst="round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Export</a:t>
            </a:r>
          </a:p>
          <a:p>
            <a:pPr algn="ctr">
              <a:defRPr sz="940">
                <a:solidFill>
                  <a:srgbClr val="FFFFFF"/>
                </a:solidFill>
                <a:latin typeface="Calibri"/>
              </a:defRPr>
            </a:pPr>
            <a:r>
              <a:t>model.keras + model.tflite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40480"/>
            <a:ext cx="3383280" cy="169164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3950208"/>
            <a:ext cx="3063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688"/>
                </a:solidFill>
                <a:latin typeface="Calibri"/>
              </a:defRPr>
            </a:pPr>
            <a:r>
              <a:t>Model architecture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Input shape: (2,)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Dense hidden layer: 16 ReLU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Output layer: 3 Softmax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840480"/>
            <a:ext cx="3383280" cy="169164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9431" y="3950208"/>
            <a:ext cx="3063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43E"/>
                </a:solidFill>
                <a:latin typeface="Calibri"/>
              </a:defRPr>
            </a:pPr>
            <a:r>
              <a:t>Training settings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80/20 stratified split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Adam optimizer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Sparse categorical crossentropy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EarlyStopping patience =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840480"/>
            <a:ext cx="3383280" cy="169164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57031" y="3950208"/>
            <a:ext cx="3063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Calibri"/>
              </a:defRPr>
            </a:pPr>
            <a:r>
              <a:t>Training result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Held-out accuracy: 83.2%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Inputs: temperature + CPU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Classes: Standard / Pruned / Mixed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37381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7381"/>
                </a:solidFill>
                <a:latin typeface="Calibri"/>
              </a:defRPr>
            </a:pPr>
            <a:r>
              <a:t>Abdul Rafey | 20042868 | STM32F407 Hardware-Adaptive 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43E"/>
                </a:solidFill>
                <a:latin typeface="Calibri"/>
              </a:defRPr>
            </a:pPr>
            <a:r>
              <a:t>Runtime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1"/>
                </a:solidFill>
                <a:latin typeface="Calibri"/>
              </a:defRPr>
            </a:pPr>
            <a:r>
              <a:t>The final runtime links hardware profiling, X-CUBE-AI inference, rule fallback and UART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508760" cy="1188720"/>
          </a:xfrm>
          <a:prstGeom prst="round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Hardware</a:t>
            </a:r>
            <a:br/>
            <a:r>
              <a:t>Profiler</a:t>
            </a:r>
          </a:p>
          <a:p>
            <a:pPr algn="ctr">
              <a:defRPr sz="850">
                <a:solidFill>
                  <a:srgbClr val="FFFFFF"/>
                </a:solidFill>
                <a:latin typeface="Calibri"/>
              </a:defRPr>
            </a:pPr>
            <a:r>
              <a:t>Reads temp, Vcc, CPU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48256" y="2423160"/>
            <a:ext cx="329184" cy="0"/>
          </a:xfrm>
          <a:prstGeom prst="line">
            <a:avLst/>
          </a:prstGeom>
          <a:ln w="25400">
            <a:solidFill>
              <a:srgbClr val="637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23160" y="1828800"/>
            <a:ext cx="1508760" cy="11887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Normalisation</a:t>
            </a:r>
          </a:p>
          <a:p>
            <a:pPr algn="ctr">
              <a:defRPr sz="850">
                <a:solidFill>
                  <a:srgbClr val="FFFFFF"/>
                </a:solidFill>
                <a:latin typeface="Calibri"/>
              </a:defRPr>
            </a:pPr>
            <a:r>
              <a:t>Uses training constants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68496" y="2423160"/>
            <a:ext cx="329184" cy="0"/>
          </a:xfrm>
          <a:prstGeom prst="line">
            <a:avLst/>
          </a:prstGeom>
          <a:ln w="25400">
            <a:solidFill>
              <a:srgbClr val="637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3400" y="1828800"/>
            <a:ext cx="1508760" cy="11887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X-CUBE-AI</a:t>
            </a:r>
            <a:br/>
            <a:r>
              <a:t>Model</a:t>
            </a:r>
          </a:p>
          <a:p>
            <a:pPr algn="ctr">
              <a:defRPr sz="850">
                <a:solidFill>
                  <a:srgbClr val="FFFFFF"/>
                </a:solidFill>
                <a:latin typeface="Calibri"/>
              </a:defRPr>
            </a:pPr>
            <a:r>
              <a:t>Softmax S/P/M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88736" y="2423160"/>
            <a:ext cx="329184" cy="0"/>
          </a:xfrm>
          <a:prstGeom prst="line">
            <a:avLst/>
          </a:prstGeom>
          <a:ln w="25400">
            <a:solidFill>
              <a:srgbClr val="637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63640" y="1828800"/>
            <a:ext cx="1508760" cy="1188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Rule</a:t>
            </a:r>
            <a:br/>
            <a:r>
              <a:t>Engine</a:t>
            </a:r>
          </a:p>
          <a:p>
            <a:pPr algn="ctr">
              <a:defRPr sz="850">
                <a:solidFill>
                  <a:srgbClr val="FFFFFF"/>
                </a:solidFill>
                <a:latin typeface="Calibri"/>
              </a:defRPr>
            </a:pPr>
            <a:r>
              <a:t>Threshold fallback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08975" y="2423160"/>
            <a:ext cx="329185" cy="0"/>
          </a:xfrm>
          <a:prstGeom prst="line">
            <a:avLst/>
          </a:prstGeom>
          <a:ln w="25400">
            <a:solidFill>
              <a:srgbClr val="637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83880" y="1828800"/>
            <a:ext cx="1508760" cy="1188720"/>
          </a:xfrm>
          <a:prstGeom prst="round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Decision</a:t>
            </a:r>
            <a:br/>
            <a:r>
              <a:t>Fusion</a:t>
            </a:r>
          </a:p>
          <a:p>
            <a:pPr algn="ctr">
              <a:defRPr sz="850">
                <a:solidFill>
                  <a:srgbClr val="FFFFFF"/>
                </a:solidFill>
                <a:latin typeface="Calibri"/>
              </a:defRPr>
            </a:pPr>
            <a:r>
              <a:t>AI if conf ≥ 0.75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729216" y="2423160"/>
            <a:ext cx="329184" cy="0"/>
          </a:xfrm>
          <a:prstGeom prst="line">
            <a:avLst/>
          </a:prstGeom>
          <a:ln w="25400">
            <a:solidFill>
              <a:srgbClr val="637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104120" y="1828800"/>
            <a:ext cx="1508760" cy="11887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UART</a:t>
            </a:r>
            <a:br/>
            <a:r>
              <a:t>Output</a:t>
            </a:r>
          </a:p>
          <a:p>
            <a:pPr algn="ctr">
              <a:defRPr sz="850">
                <a:solidFill>
                  <a:srgbClr val="FFFFFF"/>
                </a:solidFill>
                <a:latin typeface="Calibri"/>
              </a:defRPr>
            </a:pPr>
            <a:r>
              <a:t>Rule / AI / Decided / Src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18020" y="3063240"/>
            <a:ext cx="192024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" y="3931920"/>
            <a:ext cx="5074920" cy="1508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40416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43E"/>
                </a:solidFill>
                <a:latin typeface="Calibri"/>
              </a:defRPr>
            </a:pPr>
            <a:r>
              <a:t>Final runtime behaviour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Each loop samples board state, runs the model, calculates confidence, applies fallback logic, then prints the final decision over UART.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931920"/>
            <a:ext cx="4983480" cy="1508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4041648"/>
            <a:ext cx="4663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688"/>
                </a:solidFill>
                <a:latin typeface="Calibri"/>
              </a:defRPr>
            </a:pPr>
            <a:r>
              <a:t>Validation rule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The artefact is considered working only when UART shows non-zero probabilities, confidence, Rule, AI, Decided and Src fields.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37381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7381"/>
                </a:solidFill>
                <a:latin typeface="Calibri"/>
              </a:defRPr>
            </a:pPr>
            <a:r>
              <a:t>Abdul Rafey | 20042868 | STM32F407 Hardware-Adaptive 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43E"/>
                </a:solidFill>
                <a:latin typeface="Calibri"/>
              </a:defRPr>
            </a:pPr>
            <a:r>
              <a:t>Decision Fusion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1"/>
                </a:solidFill>
                <a:latin typeface="Calibri"/>
              </a:defRPr>
            </a:pPr>
            <a:r>
              <a:t>The final decision uses AI confidence first, then rule fallback when confidence is 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2286000" cy="731520"/>
          </a:xfrm>
          <a:prstGeom prst="round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 Output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S, P, M probabilities</a:t>
            </a:r>
          </a:p>
        </p:txBody>
      </p:sp>
      <p:sp>
        <p:nvSpPr>
          <p:cNvPr id="7" name="Diamond 6"/>
          <p:cNvSpPr/>
          <p:nvPr/>
        </p:nvSpPr>
        <p:spPr>
          <a:xfrm>
            <a:off x="3840480" y="1143000"/>
            <a:ext cx="1828800" cy="1234440"/>
          </a:xfrm>
          <a:prstGeom prst="diamond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Confidence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≥ 0.75?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777240"/>
            <a:ext cx="2011680" cy="8229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Use AI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Src=AI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965960"/>
            <a:ext cx="2011680" cy="8229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Use Rule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Src=RULE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1353312"/>
            <a:ext cx="2011680" cy="8229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Final Decided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Mode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63240" y="1737360"/>
            <a:ext cx="777240" cy="0"/>
          </a:xfrm>
          <a:prstGeom prst="line">
            <a:avLst/>
          </a:prstGeom>
          <a:ln w="25400">
            <a:solidFill>
              <a:srgbClr val="0F2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669280" y="1188720"/>
            <a:ext cx="777240" cy="22860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669280" y="2057400"/>
            <a:ext cx="777240" cy="320040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458200" y="1188720"/>
            <a:ext cx="822960" cy="54864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458200" y="1737360"/>
            <a:ext cx="822960" cy="640080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" y="3794760"/>
            <a:ext cx="3337560" cy="15544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3904488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Calibri"/>
              </a:defRPr>
            </a:pPr>
            <a:r>
              <a:t>Rule thresholds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MIXED_PRECISION: temp &gt; 66.8°C or CPU &gt; 64%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STANDARD_INT8: CPU &lt; 48–50%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PRUNED_VARIANT: middle region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794760"/>
            <a:ext cx="3337560" cy="15544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9431" y="3904488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688"/>
                </a:solidFill>
                <a:latin typeface="Calibri"/>
              </a:defRPr>
            </a:pPr>
            <a:r>
              <a:t>AI output mapping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Output 0 = STANDARD_INT8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Output 1 = PRUNED_VARIANT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Output 2 = MIXED_PRECISION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794760"/>
            <a:ext cx="3337560" cy="15544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57031" y="3904488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43E"/>
                </a:solidFill>
                <a:latin typeface="Calibri"/>
              </a:defRPr>
            </a:pPr>
            <a:r>
              <a:t>Why fallback matters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Prevents uncertain AI output from causing unstable switching near class boundaries.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37381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7381"/>
                </a:solidFill>
                <a:latin typeface="Calibri"/>
              </a:defRPr>
            </a:pPr>
            <a:r>
              <a:t>Abdul Rafey | 20042868 | STM32F407 Hardware-Adaptive 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43E"/>
                </a:solidFill>
                <a:latin typeface="Calibri"/>
              </a:defRPr>
            </a:pPr>
            <a:r>
              <a:t>Implementation Issues and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1"/>
                </a:solidFill>
                <a:latin typeface="Calibri"/>
              </a:defRPr>
            </a:pPr>
            <a:r>
              <a:t>The final working path was achieved after debugging the embedded deployment layer.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520440" cy="42519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344168"/>
            <a:ext cx="32004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  <a:latin typeface="Calibri"/>
              </a:defRPr>
            </a:pPr>
            <a:r>
              <a:t>Problem encountered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TensorFlow Lite Micro integration was attempted first.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Invoke appeared successful but output tensor values were zero.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Pointer/output handling created repeated debugging issues.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520440" cy="42519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9431" y="1344168"/>
            <a:ext cx="32004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688"/>
                </a:solidFill>
                <a:latin typeface="Calibri"/>
              </a:defRPr>
            </a:pPr>
            <a:r>
              <a:t>Technical fixes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Migrated final deployment to X-CUBE-AI 10.2.0.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Removed unnecessary microlite library dependency.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Generated STM32-compatible C inference files.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Kept same normalisation constants in firmware.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34440"/>
            <a:ext cx="3337560" cy="42519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02752" y="1344168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Calibri"/>
              </a:defRPr>
            </a:pPr>
            <a:r>
              <a:t>Project property fix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STM32CubeIDE floating-point ABI changed from softfp to hard.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This supports Cortex-M4 FPU usage for float32 inference.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Final UART output confirmed valid probabilities.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37381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7381"/>
                </a:solidFill>
                <a:latin typeface="Calibri"/>
              </a:defRPr>
            </a:pPr>
            <a:r>
              <a:t>Abdul Rafey | 20042868 | STM32F407 Hardware-Adaptive 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43E"/>
                </a:solidFill>
                <a:latin typeface="Calibri"/>
              </a:defRPr>
            </a:pPr>
            <a:r>
              <a:t>Results and Runtime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1"/>
                </a:solidFill>
                <a:latin typeface="Calibri"/>
              </a:defRPr>
            </a:pPr>
            <a:r>
              <a:t>The final deployment is validated by actual Putty/UART output from the STM32F407 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24688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2400" b="1">
                <a:solidFill>
                  <a:srgbClr val="16A34A"/>
                </a:solidFill>
                <a:latin typeface="Calibri"/>
              </a:defRPr>
            </a:pPr>
            <a:r>
              <a:t>83.2%</a:t>
            </a:r>
          </a:p>
          <a:p>
            <a:pPr algn="ctr">
              <a:defRPr sz="1050">
                <a:solidFill>
                  <a:srgbClr val="212B36"/>
                </a:solidFill>
                <a:latin typeface="Calibri"/>
              </a:defRPr>
            </a:pPr>
            <a:r>
              <a:t>Held-out test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371600"/>
            <a:ext cx="24688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2400" b="1">
                <a:solidFill>
                  <a:srgbClr val="009688"/>
                </a:solidFill>
                <a:latin typeface="Calibri"/>
              </a:defRPr>
            </a:pPr>
            <a:r>
              <a:t>0.75</a:t>
            </a:r>
          </a:p>
          <a:p>
            <a:pPr algn="ctr">
              <a:defRPr sz="1050">
                <a:solidFill>
                  <a:srgbClr val="212B36"/>
                </a:solidFill>
                <a:latin typeface="Calibri"/>
              </a:defRPr>
            </a:pPr>
            <a:r>
              <a:t>Confidence threshold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24688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2400" b="1">
                <a:solidFill>
                  <a:srgbClr val="0F243E"/>
                </a:solidFill>
                <a:latin typeface="Calibri"/>
              </a:defRPr>
            </a:pPr>
            <a:r>
              <a:t>3</a:t>
            </a:r>
          </a:p>
          <a:p>
            <a:pPr algn="ctr">
              <a:defRPr sz="1050">
                <a:solidFill>
                  <a:srgbClr val="212B36"/>
                </a:solidFill>
                <a:latin typeface="Calibri"/>
              </a:defRPr>
            </a:pPr>
            <a:r>
              <a:t>Output classes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371600"/>
            <a:ext cx="24688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2400" b="1">
                <a:solidFill>
                  <a:srgbClr val="F59E0B"/>
                </a:solidFill>
                <a:latin typeface="Calibri"/>
              </a:defRPr>
            </a:pPr>
            <a:r>
              <a:t>AI / RULE</a:t>
            </a:r>
          </a:p>
          <a:p>
            <a:pPr algn="ctr">
              <a:defRPr sz="1050">
                <a:solidFill>
                  <a:srgbClr val="212B36"/>
                </a:solidFill>
                <a:latin typeface="Calibri"/>
              </a:defRPr>
            </a:pPr>
            <a:r>
              <a:t>Decision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37381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395728"/>
            <a:ext cx="11274552" cy="1481328"/>
          </a:xfrm>
          <a:prstGeom prst="roundRect">
            <a:avLst/>
          </a:prstGeom>
          <a:solidFill>
            <a:srgbClr val="14181E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7190ed2e-cc05-4054-8597-e41bd642ec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569464"/>
            <a:ext cx="11155680" cy="12527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3504" y="3877056"/>
            <a:ext cx="10972800" cy="2743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ptos"/>
              </a:defRPr>
            </a:pPr>
            <a:r>
              <a:t>Actual final UART output: each row prints Temperature, Voltage, CPU load, AI prediction, Rule decision, Decided mode, and Src (AI or RULE).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79392"/>
            <a:ext cx="3246120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A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400" b="1">
                <a:solidFill>
                  <a:srgbClr val="0F4C81"/>
                </a:solidFill>
              </a:defRPr>
            </a:pPr>
            <a:r>
              <a:t>STANDARD region</a:t>
            </a:r>
          </a:p>
          <a:p>
            <a:pPr>
              <a:defRPr sz="1100">
                <a:solidFill>
                  <a:srgbClr val="1F2A37"/>
                </a:solidFill>
              </a:defRPr>
            </a:pPr>
            <a:r>
              <a:t>CPU 44–48% → AI=STANDARD_INT8</a:t>
            </a:r>
          </a:p>
          <a:p>
            <a:pPr>
              <a:defRPr sz="1100">
                <a:solidFill>
                  <a:srgbClr val="1F2A37"/>
                </a:solidFill>
              </a:defRPr>
            </a:pPr>
            <a:r>
              <a:t>Confidence up to 1.000</a:t>
            </a:r>
          </a:p>
          <a:p>
            <a:pPr>
              <a:defRPr sz="1100">
                <a:solidFill>
                  <a:srgbClr val="1F2A37"/>
                </a:solidFill>
              </a:defRPr>
            </a:pPr>
            <a:r>
              <a:t>Source mostly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4279392"/>
            <a:ext cx="3246120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A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400" b="1">
                <a:solidFill>
                  <a:srgbClr val="0F4C81"/>
                </a:solidFill>
              </a:defRPr>
            </a:pPr>
            <a:r>
              <a:t>PRUNED region</a:t>
            </a:r>
          </a:p>
          <a:p>
            <a:pPr>
              <a:defRPr sz="1100">
                <a:solidFill>
                  <a:srgbClr val="1F2A37"/>
                </a:solidFill>
              </a:defRPr>
            </a:pPr>
            <a:r>
              <a:t>CPU around 51–55% → PRUNED_VARIANT</a:t>
            </a:r>
          </a:p>
          <a:p>
            <a:pPr>
              <a:defRPr sz="1100">
                <a:solidFill>
                  <a:srgbClr val="1F2A37"/>
                </a:solidFill>
              </a:defRPr>
            </a:pPr>
            <a:r>
              <a:t>AI and Rule agree</a:t>
            </a:r>
          </a:p>
          <a:p>
            <a:pPr>
              <a:defRPr sz="1100">
                <a:solidFill>
                  <a:srgbClr val="1F2A37"/>
                </a:solidFill>
              </a:defRPr>
            </a:pPr>
            <a:r>
              <a:t>Stable middle mode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4279392"/>
            <a:ext cx="2834640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A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400" b="1">
                <a:solidFill>
                  <a:srgbClr val="0F4C81"/>
                </a:solidFill>
              </a:defRPr>
            </a:pPr>
            <a:r>
              <a:t>Fallback proof</a:t>
            </a:r>
          </a:p>
          <a:p>
            <a:pPr>
              <a:defRPr sz="1100">
                <a:solidFill>
                  <a:srgbClr val="1F2A37"/>
                </a:solidFill>
              </a:defRPr>
            </a:pPr>
            <a:r>
              <a:t>AI=MIXED at 0.581</a:t>
            </a:r>
          </a:p>
          <a:p>
            <a:pPr>
              <a:defRPr sz="1100">
                <a:solidFill>
                  <a:srgbClr val="1F2A37"/>
                </a:solidFill>
              </a:defRPr>
            </a:pPr>
            <a:r>
              <a:t>Rule chooses PRUNED</a:t>
            </a:r>
          </a:p>
          <a:p>
            <a:pPr>
              <a:defRPr sz="1100">
                <a:solidFill>
                  <a:srgbClr val="1F2A37"/>
                </a:solidFill>
              </a:defRPr>
            </a:pPr>
            <a:r>
              <a:t>Src=RULE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7381"/>
                </a:solidFill>
                <a:latin typeface="Calibri"/>
              </a:defRPr>
            </a:pPr>
            <a:r>
              <a:t>Abdul Rafey | 20042868 | STM32F407 Hardware-Adaptive 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43E"/>
                </a:solidFill>
                <a:latin typeface="Calibri"/>
              </a:defRPr>
            </a:pPr>
            <a:r>
              <a:t>Limitations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1"/>
                </a:solidFill>
                <a:latin typeface="Calibri"/>
              </a:defRPr>
            </a:pPr>
            <a:r>
              <a:t>The prototype works, but future versions can expand the hardware evaluation and runtime switching.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80160"/>
            <a:ext cx="5166360" cy="192024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389888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  <a:latin typeface="Calibri"/>
              </a:defRPr>
            </a:pPr>
            <a:r>
              <a:t>Current limitations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Dataset comes from one STM32F407 board and one firmware configuration.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Voltage variation was too small in available data, so Vcc was not used as a final AI input.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Energy results require stronger measurement with external current-sensing hardware.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80160"/>
            <a:ext cx="5166360" cy="192024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1" y="1389888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688"/>
                </a:solidFill>
                <a:latin typeface="Calibri"/>
              </a:defRPr>
            </a:pPr>
            <a:r>
              <a:t>Future work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Implement real switching between multiple compiled X-CUBE-AI networks.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Collect a larger dataset under controlled thermal and voltage sweeps.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Add hysteresis/smoothing around decision boundaries.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Test portability on other STM32 Cortex-M boards.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931920"/>
            <a:ext cx="10652760" cy="11430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4041648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43E"/>
                </a:solidFill>
                <a:latin typeface="Calibri"/>
              </a:defRPr>
            </a:pPr>
            <a:r>
              <a:t>Practical implication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The project provides a foundation for hardware-aware TinyML systems where embedded inference decisions are influenced by live board state rather than only by static offline optimisation.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37381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7381"/>
                </a:solidFill>
                <a:latin typeface="Calibri"/>
              </a:defRPr>
            </a:pPr>
            <a:r>
              <a:t>Abdul Rafey | 20042868 | STM32F407 Hardware-Adaptive 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43E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7381"/>
                </a:solidFill>
                <a:latin typeface="Calibri"/>
              </a:defRPr>
            </a:pPr>
            <a:r>
              <a:t>The project converted hardware-aware TinyML from an idea into a working STM32F407 artefact.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3337560" cy="27432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35607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688"/>
                </a:solidFill>
                <a:latin typeface="Calibri"/>
              </a:defRPr>
            </a:pPr>
            <a:r>
              <a:t>Main contribution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Real STM32F407 board telemetry dataset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Hardware-adaptive mode-selection logic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X-CUBE-AI deployed AI model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Rule fallback for low-confidence regions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337560" cy="27432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9431" y="1435607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  <a:latin typeface="Calibri"/>
              </a:defRPr>
            </a:pPr>
            <a:r>
              <a:t>Final evidence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Model output no longer zero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Softmax probabilities available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Confidence and source fields printed</a:t>
            </a:r>
          </a:p>
          <a:p>
            <a:pPr>
              <a:spcBef>
                <a:spcPts val="500"/>
              </a:spcBef>
              <a:defRPr sz="1220">
                <a:solidFill>
                  <a:srgbClr val="212B36"/>
                </a:solidFill>
                <a:latin typeface="Calibri"/>
              </a:defRPr>
            </a:pPr>
            <a:r>
              <a:t>Artefact can be demonstrated through UART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25880"/>
            <a:ext cx="3337560" cy="27432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11312" y="1435607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4C81"/>
                </a:solidFill>
                <a:latin typeface="Aptos"/>
              </a:defRPr>
            </a:pPr>
            <a:r>
              <a:t>Submission package</a:t>
            </a:r>
          </a:p>
          <a:p>
            <a:pPr>
              <a:defRPr sz="1200" b="0">
                <a:solidFill>
                  <a:srgbClr val="1F2A37"/>
                </a:solidFill>
                <a:latin typeface="Aptos"/>
              </a:defRPr>
            </a:pPr>
            <a:r>
              <a:t>Report PDF</a:t>
            </a:r>
          </a:p>
          <a:p>
            <a:pPr>
              <a:defRPr sz="1200" b="0">
                <a:solidFill>
                  <a:srgbClr val="1F2A37"/>
                </a:solidFill>
                <a:latin typeface="Aptos"/>
              </a:defRPr>
            </a:pPr>
            <a:r>
              <a:t>Presentation PPTX</a:t>
            </a:r>
          </a:p>
          <a:p>
            <a:pPr>
              <a:defRPr sz="1200" b="0">
                <a:solidFill>
                  <a:srgbClr val="1F2A37"/>
                </a:solidFill>
                <a:latin typeface="Aptos"/>
              </a:defRPr>
            </a:pPr>
            <a:r>
              <a:t>Artefact folder</a:t>
            </a:r>
          </a:p>
          <a:p>
            <a:pPr>
              <a:defRPr sz="1200" b="0">
                <a:solidFill>
                  <a:srgbClr val="1F2A37"/>
                </a:solidFill>
                <a:latin typeface="Aptos"/>
              </a:defRPr>
            </a:pPr>
            <a:r>
              <a:t>GitHub repository link in report appendix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243E"/>
                </a:solidFill>
                <a:latin typeface="Calibri"/>
              </a:defRPr>
            </a:pPr>
            <a:r>
              <a:t>Thank you — Questions?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37381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1385</Words>
  <Application>Microsoft Office PowerPoint</Application>
  <PresentationFormat>Widescreen</PresentationFormat>
  <Paragraphs>266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Sheikh Wasay</cp:lastModifiedBy>
  <cp:revision>2</cp:revision>
  <dcterms:created xsi:type="dcterms:W3CDTF">2013-01-27T09:14:16Z</dcterms:created>
  <dcterms:modified xsi:type="dcterms:W3CDTF">2026-05-09T15:52:57Z</dcterms:modified>
  <cp:category/>
</cp:coreProperties>
</file>